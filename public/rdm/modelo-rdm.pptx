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42" r:id="rId5"/>
    <p:sldMasterId id="2147483745" r:id="rId6"/>
    <p:sldMasterId id="2147483889" r:id="rId7"/>
  </p:sldMasterIdLst>
  <p:notesMasterIdLst>
    <p:notesMasterId r:id="rId11"/>
  </p:notesMasterIdLst>
  <p:handoutMasterIdLst>
    <p:handoutMasterId r:id="rId12"/>
  </p:handoutMasterIdLst>
  <p:sldIdLst>
    <p:sldId id="2147483457" r:id="rId8"/>
    <p:sldId id="2147483460" r:id="rId9"/>
    <p:sldId id="2147483459" r:id="rId10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3A2D63-86B8-A5F6-90A3-CC909DE60C6C}" name="Iara Adilza Fernandes Sardinha" initials="IF" userId="S::NKT0160@randon.com.br::95b72ad6-d4cd-433c-8042-0b1ad730ba84" providerId="AD"/>
  <p188:author id="{C1CE21D5-DCC8-F8F6-7A90-66A347DEF228}" name="Andre Fehr" initials="AF" userId="S::NKT0347@randon.com.br::5114f43e-6257-4849-bf69-7dc10b045d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0AD47"/>
    <a:srgbClr val="A9D18E"/>
    <a:srgbClr val="F17B25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65" autoAdjust="0"/>
    <p:restoredTop sz="93969" autoAdjust="0"/>
  </p:normalViewPr>
  <p:slideViewPr>
    <p:cSldViewPr snapToGrid="0" showGuides="1">
      <p:cViewPr varScale="1">
        <p:scale>
          <a:sx n="74" d="100"/>
          <a:sy n="74" d="100"/>
        </p:scale>
        <p:origin x="204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EC4E228-F948-70F3-970C-46A4EC198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1B332FE-E0A3-6AA7-4E3C-E9807EA31E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48BD2CC-C920-46B7-B6B8-9A50AEF30653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648B65-7691-56B3-5A7F-475638F5C4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F59C6C-05A6-367D-8645-B90D9900F7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FDAE82E-B459-4CEA-948D-CA69084877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41841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CDD46CC-02E9-4862-AFC7-A31105DA5C2F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A169B0A-D4AA-4A83-8AA1-5B3D158D4C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875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47A4-6D0B-45BF-891F-BF6B5732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C8AC1C-17DF-AB97-4DE2-ED00E4C32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3A7E47-1D9A-4C9D-83CE-686DCAFE0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4A0C31-CEC8-976B-F42B-8839D221B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69B0A-D4AA-4A83-8AA1-5B3D158D4CD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27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D12F-9AA0-1493-97A8-7FAC998D6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226722-2DAD-84FE-3AC5-F45C3D1B5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32EC0F-89D5-682E-AC90-B4F06666C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145A47-C75F-F738-81F7-A65E2C20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69B0A-D4AA-4A83-8AA1-5B3D158D4CD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409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5D57-712C-430D-A8EA-635811F3EAC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20/10/2026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10400-6B41-4CFE-A4A1-0CC8B177BF73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4B3493-B693-8F7D-FABB-A5364E27828F}"/>
              </a:ext>
            </a:extLst>
          </p:cNvPr>
          <p:cNvSpPr/>
          <p:nvPr userDrawn="1"/>
        </p:nvSpPr>
        <p:spPr>
          <a:xfrm>
            <a:off x="9259410" y="-2310"/>
            <a:ext cx="2932590" cy="852256"/>
          </a:xfrm>
          <a:prstGeom prst="rect">
            <a:avLst/>
          </a:prstGeom>
          <a:solidFill>
            <a:srgbClr val="5B5D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9EB295B-396A-048B-A0E7-7077ADDEA91C}"/>
              </a:ext>
            </a:extLst>
          </p:cNvPr>
          <p:cNvSpPr/>
          <p:nvPr userDrawn="1"/>
        </p:nvSpPr>
        <p:spPr>
          <a:xfrm>
            <a:off x="0" y="-2310"/>
            <a:ext cx="9259410" cy="8522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2D5D5E-44ED-5BC2-DAD0-519E7313E2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563831" y="200548"/>
            <a:ext cx="2323747" cy="44654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D6ACCB3-1ED6-87B4-8E63-C940C00E4D55}"/>
              </a:ext>
            </a:extLst>
          </p:cNvPr>
          <p:cNvSpPr/>
          <p:nvPr userDrawn="1"/>
        </p:nvSpPr>
        <p:spPr>
          <a:xfrm>
            <a:off x="0" y="6658252"/>
            <a:ext cx="12192000" cy="1997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7161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5D57-712C-430D-A8EA-635811F3EAC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20/10/2026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10400-6B41-4CFE-A4A1-0CC8B177BF73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4B3493-B693-8F7D-FABB-A5364E27828F}"/>
              </a:ext>
            </a:extLst>
          </p:cNvPr>
          <p:cNvSpPr/>
          <p:nvPr userDrawn="1"/>
        </p:nvSpPr>
        <p:spPr>
          <a:xfrm>
            <a:off x="9259410" y="-2310"/>
            <a:ext cx="2932590" cy="852256"/>
          </a:xfrm>
          <a:prstGeom prst="rect">
            <a:avLst/>
          </a:prstGeom>
          <a:solidFill>
            <a:srgbClr val="5B5D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9EB295B-396A-048B-A0E7-7077ADDEA91C}"/>
              </a:ext>
            </a:extLst>
          </p:cNvPr>
          <p:cNvSpPr/>
          <p:nvPr userDrawn="1"/>
        </p:nvSpPr>
        <p:spPr>
          <a:xfrm>
            <a:off x="0" y="-2310"/>
            <a:ext cx="9259410" cy="8522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92D5D5E-44ED-5BC2-DAD0-519E7313E2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9563831" y="200548"/>
            <a:ext cx="2323747" cy="44654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D6ACCB3-1ED6-87B4-8E63-C940C00E4D55}"/>
              </a:ext>
            </a:extLst>
          </p:cNvPr>
          <p:cNvSpPr/>
          <p:nvPr userDrawn="1"/>
        </p:nvSpPr>
        <p:spPr>
          <a:xfrm>
            <a:off x="0" y="6658252"/>
            <a:ext cx="12192000" cy="199748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12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10B4A65-B1FB-7EAA-7351-5A14FEA5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pt-BR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0BDF553-E812-2685-156C-E9704E48A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pt-BR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29D446D-137F-4B2A-5EB4-F33C87368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189495D2-FC9E-4343-9CC4-E604FDEE89A1}" type="datetimeFigureOut">
              <a:rPr lang="pt-BR" smtClean="0"/>
              <a:pPr/>
              <a:t>20/10/2026</a:t>
            </a:fld>
            <a:endParaRPr lang="pt-BR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62C9B65-3914-A6BC-C655-E506831DA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020B158-5566-79FC-8592-7C5CAE0FA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8F7E00F2-59DF-445E-96B7-4E8743A8C296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925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15421A-291F-8ED9-DFDE-9C5265B1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295191-B2DB-02EA-A9B4-44241275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0E4FF7-BB70-60D8-005A-5CD428160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524F2-EA43-4DCD-81E2-702AF7768DAA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FDF8E9-D47F-8DBA-866C-C69032B3E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EA0AA6-D04E-ECCF-E632-122FD8211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" descr="Imagem">
            <a:extLst>
              <a:ext uri="{FF2B5EF4-FFF2-40B4-BE49-F238E27FC236}">
                <a16:creationId xmlns:a16="http://schemas.microsoft.com/office/drawing/2014/main" id="{A6C2C67A-5460-520C-23B2-B5D1875927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4470" y="6510603"/>
            <a:ext cx="6095994" cy="356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agem" descr="Imagem">
            <a:extLst>
              <a:ext uri="{FF2B5EF4-FFF2-40B4-BE49-F238E27FC236}">
                <a16:creationId xmlns:a16="http://schemas.microsoft.com/office/drawing/2014/main" id="{EF7196C0-0CE8-EB59-3AC9-FB1623BB2A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4470" y="6510603"/>
            <a:ext cx="6095994" cy="35612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311595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320">
          <p15:clr>
            <a:srgbClr val="F26B43"/>
          </p15:clr>
        </p15:guide>
        <p15:guide id="4" pos="76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15421A-291F-8ED9-DFDE-9C5265B1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295191-B2DB-02EA-A9B4-44241275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0E4FF7-BB70-60D8-005A-5CD428160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524F2-EA43-4DCD-81E2-702AF7768DAA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FDF8E9-D47F-8DBA-866C-C69032B3E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EA0AA6-D04E-ECCF-E632-122FD8211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" descr="Imagem">
            <a:extLst>
              <a:ext uri="{FF2B5EF4-FFF2-40B4-BE49-F238E27FC236}">
                <a16:creationId xmlns:a16="http://schemas.microsoft.com/office/drawing/2014/main" id="{A6C2C67A-5460-520C-23B2-B5D187592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4470" y="6510603"/>
            <a:ext cx="6095994" cy="35612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9671866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470" y="6510603"/>
            <a:ext cx="6095995" cy="35612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o do Título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4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26619" cy="65659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890" r:id="rId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761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396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5031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666153" marR="0" indent="-586153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EEAC73-B6BC-6DFD-4270-D5DAA8204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725" y="-124165"/>
            <a:ext cx="12681945" cy="7106330"/>
          </a:xfrm>
          <a:prstGeom prst="rect">
            <a:avLst/>
          </a:prstGeom>
        </p:spPr>
      </p:pic>
      <p:pic>
        <p:nvPicPr>
          <p:cNvPr id="145" name="AdobeStock_672926391.jpeg" descr="AdobeStock_672926391.jpe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4220" y="-124165"/>
            <a:ext cx="12680440" cy="7106330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Retângulo 3"/>
          <p:cNvSpPr/>
          <p:nvPr/>
        </p:nvSpPr>
        <p:spPr>
          <a:xfrm rot="5400000">
            <a:off x="2541330" y="-2823215"/>
            <a:ext cx="7106331" cy="12680441"/>
          </a:xfrm>
          <a:prstGeom prst="rect">
            <a:avLst/>
          </a:prstGeom>
          <a:gradFill>
            <a:gsLst>
              <a:gs pos="13000">
                <a:srgbClr val="52555A"/>
              </a:gs>
              <a:gs pos="70000">
                <a:srgbClr val="54565B">
                  <a:alpha val="0"/>
                </a:srgbClr>
              </a:gs>
            </a:gsLst>
            <a:lin ang="18900000"/>
          </a:gradFill>
          <a:ln w="12700">
            <a:miter lim="400000"/>
          </a:ln>
        </p:spPr>
        <p:txBody>
          <a:bodyPr tIns="45720" bIns="4572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defTabSz="914400"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1800"/>
          </a:p>
        </p:txBody>
      </p:sp>
      <p:sp>
        <p:nvSpPr>
          <p:cNvPr id="147" name="TÍTULO DA…"/>
          <p:cNvSpPr txBox="1"/>
          <p:nvPr/>
        </p:nvSpPr>
        <p:spPr>
          <a:xfrm>
            <a:off x="140888" y="3877013"/>
            <a:ext cx="8776113" cy="2229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algn="l">
              <a:lnSpc>
                <a:spcPct val="70000"/>
              </a:lnSpc>
              <a:defRPr sz="8500">
                <a:solidFill>
                  <a:srgbClr val="D4D5D7"/>
                </a:solidFill>
                <a:latin typeface="Kanit Medium"/>
                <a:ea typeface="Kanit Medium"/>
                <a:cs typeface="Kanit Medium"/>
                <a:sym typeface="Kanit Medium"/>
              </a:defRPr>
            </a:pPr>
            <a:r>
              <a:rPr lang="pt-BR" sz="4250" b="1" dirty="0"/>
              <a:t>PRODUTO / QUALIDADE / ENGENHARIA</a:t>
            </a:r>
          </a:p>
          <a:p>
            <a:pPr algn="l">
              <a:lnSpc>
                <a:spcPct val="70000"/>
              </a:lnSpc>
              <a:defRPr sz="8500">
                <a:solidFill>
                  <a:srgbClr val="D4D5D7"/>
                </a:solidFill>
                <a:latin typeface="Kanit Medium"/>
                <a:ea typeface="Kanit Medium"/>
                <a:cs typeface="Kanit Medium"/>
                <a:sym typeface="Kanit Medium"/>
              </a:defRPr>
            </a:pPr>
            <a:r>
              <a:rPr lang="pt-BR" sz="3600" b="1" i="1" dirty="0" err="1"/>
              <a:t>Co-Manufatura</a:t>
            </a:r>
            <a:r>
              <a:rPr lang="pt-BR" sz="3600" b="1" i="1" dirty="0"/>
              <a:t> – Nakata</a:t>
            </a:r>
          </a:p>
          <a:p>
            <a:pPr algn="l">
              <a:lnSpc>
                <a:spcPct val="70000"/>
              </a:lnSpc>
              <a:defRPr sz="8500">
                <a:solidFill>
                  <a:srgbClr val="D4D5D7"/>
                </a:solidFill>
                <a:latin typeface="Kanit Medium"/>
                <a:ea typeface="Kanit Medium"/>
                <a:cs typeface="Kanit Medium"/>
                <a:sym typeface="Kanit Medium"/>
              </a:defRPr>
            </a:pPr>
            <a:endParaRPr lang="pt-BR" sz="3600" b="1" i="1" dirty="0"/>
          </a:p>
          <a:p>
            <a:pPr algn="l">
              <a:lnSpc>
                <a:spcPct val="70000"/>
              </a:lnSpc>
              <a:defRPr sz="8500">
                <a:solidFill>
                  <a:srgbClr val="D4D5D7"/>
                </a:solidFill>
                <a:latin typeface="Kanit Medium"/>
                <a:ea typeface="Kanit Medium"/>
                <a:cs typeface="Kanit Medium"/>
                <a:sym typeface="Kanit Medium"/>
              </a:defRPr>
            </a:pPr>
            <a:r>
              <a:rPr lang="pt-BR" sz="3600" b="1" i="1" dirty="0"/>
              <a:t>Maio/2026</a:t>
            </a:r>
            <a:endParaRPr sz="4250" b="1" dirty="0"/>
          </a:p>
        </p:txBody>
      </p:sp>
      <p:sp>
        <p:nvSpPr>
          <p:cNvPr id="148" name="Forma"/>
          <p:cNvSpPr/>
          <p:nvPr/>
        </p:nvSpPr>
        <p:spPr>
          <a:xfrm>
            <a:off x="6320275" y="6626761"/>
            <a:ext cx="6115945" cy="355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" y="0"/>
                </a:moveTo>
                <a:lnTo>
                  <a:pt x="0" y="2100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980" y="0"/>
                </a:lnTo>
                <a:close/>
              </a:path>
            </a:pathLst>
          </a:custGeom>
          <a:solidFill>
            <a:srgbClr val="ED1C23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defTabSz="438150">
              <a:defRPr sz="6000">
                <a:solidFill>
                  <a:srgbClr val="D6D9DA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pic>
        <p:nvPicPr>
          <p:cNvPr id="4" name="Imagem 3" descr="Logotipo, Ícone&#10;&#10;O conteúdo gerado por IA pode estar incorreto.">
            <a:extLst>
              <a:ext uri="{FF2B5EF4-FFF2-40B4-BE49-F238E27FC236}">
                <a16:creationId xmlns:a16="http://schemas.microsoft.com/office/drawing/2014/main" id="{7959E076-39C6-DEB5-6C8E-520CE0D10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494" y="6676131"/>
            <a:ext cx="2211837" cy="243953"/>
          </a:xfrm>
          <a:prstGeom prst="rect">
            <a:avLst/>
          </a:prstGeom>
        </p:spPr>
      </p:pic>
      <p:pic>
        <p:nvPicPr>
          <p:cNvPr id="5" name="Marca_FrasleMobility_FundoGrafite.png" descr="Marca_FrasleMobility_FundoGrafite.png">
            <a:extLst>
              <a:ext uri="{FF2B5EF4-FFF2-40B4-BE49-F238E27FC236}">
                <a16:creationId xmlns:a16="http://schemas.microsoft.com/office/drawing/2014/main" id="{EAB7E62A-4A00-AD97-A204-3871C31FC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3636" y="-2"/>
            <a:ext cx="5863084" cy="106645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8A6B3B5-F27D-4DC8-F2D9-0D84EC1104BB}"/>
              </a:ext>
            </a:extLst>
          </p:cNvPr>
          <p:cNvSpPr txBox="1"/>
          <p:nvPr/>
        </p:nvSpPr>
        <p:spPr>
          <a:xfrm>
            <a:off x="9847950" y="-36160"/>
            <a:ext cx="2514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ISO9001:2015</a:t>
            </a:r>
          </a:p>
          <a:p>
            <a:pPr algn="r"/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KEEP…">
            <a:extLst>
              <a:ext uri="{FF2B5EF4-FFF2-40B4-BE49-F238E27FC236}">
                <a16:creationId xmlns:a16="http://schemas.microsoft.com/office/drawing/2014/main" id="{2B31C549-D9A7-35BE-BAF5-1A4E88A0389D}"/>
              </a:ext>
            </a:extLst>
          </p:cNvPr>
          <p:cNvSpPr txBox="1"/>
          <p:nvPr/>
        </p:nvSpPr>
        <p:spPr>
          <a:xfrm>
            <a:off x="262682" y="1779688"/>
            <a:ext cx="8023475" cy="1577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8100" tIns="38100" rIns="38100" bIns="38100" anchor="ctr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defTabSz="409575">
              <a:defRPr sz="6500" spc="2015">
                <a:solidFill>
                  <a:srgbClr val="D8D9DB"/>
                </a:solidFill>
                <a:latin typeface="Kanit Regular"/>
                <a:ea typeface="Kanit Regular"/>
                <a:cs typeface="Kanit Regular"/>
                <a:sym typeface="Kanit Regular"/>
              </a:defRPr>
            </a:pPr>
            <a:r>
              <a:rPr lang="pt-BR" sz="3250" dirty="0"/>
              <a:t>REUNIÃO</a:t>
            </a:r>
          </a:p>
          <a:p>
            <a:pPr defTabSz="409575">
              <a:defRPr sz="6500" spc="2015">
                <a:solidFill>
                  <a:srgbClr val="D8D9DB"/>
                </a:solidFill>
                <a:latin typeface="Kanit Regular"/>
                <a:ea typeface="Kanit Regular"/>
                <a:cs typeface="Kanit Regular"/>
                <a:sym typeface="Kanit Regular"/>
              </a:defRPr>
            </a:pPr>
            <a:r>
              <a:rPr lang="pt-BR" sz="3250" dirty="0"/>
              <a:t>DESEMPENHO MENSAL</a:t>
            </a:r>
            <a:endParaRPr sz="3250" dirty="0"/>
          </a:p>
        </p:txBody>
      </p:sp>
      <p:sp>
        <p:nvSpPr>
          <p:cNvPr id="7" name="Conector reto 24">
            <a:extLst>
              <a:ext uri="{FF2B5EF4-FFF2-40B4-BE49-F238E27FC236}">
                <a16:creationId xmlns:a16="http://schemas.microsoft.com/office/drawing/2014/main" id="{65D96CBB-B57C-82B2-4C13-6861E683EA62}"/>
              </a:ext>
            </a:extLst>
          </p:cNvPr>
          <p:cNvSpPr/>
          <p:nvPr/>
        </p:nvSpPr>
        <p:spPr>
          <a:xfrm flipH="1">
            <a:off x="1224549" y="1897567"/>
            <a:ext cx="138413" cy="1199335"/>
          </a:xfrm>
          <a:prstGeom prst="line">
            <a:avLst/>
          </a:prstGeom>
          <a:noFill/>
          <a:ln w="25400" cap="flat">
            <a:solidFill>
              <a:srgbClr val="ED1C24"/>
            </a:solidFill>
            <a:prstDash val="solid"/>
            <a:miter lim="8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algn="l" defTabSz="4572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sp>
        <p:nvSpPr>
          <p:cNvPr id="8" name="Conector reto 28">
            <a:extLst>
              <a:ext uri="{FF2B5EF4-FFF2-40B4-BE49-F238E27FC236}">
                <a16:creationId xmlns:a16="http://schemas.microsoft.com/office/drawing/2014/main" id="{19A632DA-1F97-59E8-46B1-03427AE46859}"/>
              </a:ext>
            </a:extLst>
          </p:cNvPr>
          <p:cNvSpPr/>
          <p:nvPr/>
        </p:nvSpPr>
        <p:spPr>
          <a:xfrm flipH="1">
            <a:off x="6799713" y="1968698"/>
            <a:ext cx="138413" cy="1199335"/>
          </a:xfrm>
          <a:prstGeom prst="line">
            <a:avLst/>
          </a:prstGeom>
          <a:noFill/>
          <a:ln w="25400" cap="flat">
            <a:solidFill>
              <a:srgbClr val="ED1C24"/>
            </a:solidFill>
            <a:prstDash val="solid"/>
            <a:miter lim="8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algn="l" defTabSz="4572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5686954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CC6D-4C06-9C70-A006-E50E6482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54E79593-F3C0-C355-E0A6-ED8897858A12}"/>
              </a:ext>
            </a:extLst>
          </p:cNvPr>
          <p:cNvSpPr txBox="1"/>
          <p:nvPr/>
        </p:nvSpPr>
        <p:spPr>
          <a:xfrm rot="16200000">
            <a:off x="-2545138" y="3488542"/>
            <a:ext cx="5607073" cy="4231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Helvetica Neue Medium"/>
              </a:rPr>
              <a:t>INDICADORES DOS PROCESSOS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AFDC89C1-8A8C-36C2-5803-368E7039C5B3}"/>
              </a:ext>
            </a:extLst>
          </p:cNvPr>
          <p:cNvCxnSpPr/>
          <p:nvPr/>
        </p:nvCxnSpPr>
        <p:spPr>
          <a:xfrm>
            <a:off x="6574458" y="886962"/>
            <a:ext cx="0" cy="5458484"/>
          </a:xfrm>
          <a:prstGeom prst="line">
            <a:avLst/>
          </a:prstGeom>
          <a:noFill/>
          <a:ln w="31750" cap="flat">
            <a:solidFill>
              <a:schemeClr val="bg2">
                <a:lumMod val="60000"/>
                <a:lumOff val="4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5C4B85-1903-5114-02B8-8E8BAB19243A}"/>
              </a:ext>
            </a:extLst>
          </p:cNvPr>
          <p:cNvSpPr txBox="1"/>
          <p:nvPr/>
        </p:nvSpPr>
        <p:spPr>
          <a:xfrm>
            <a:off x="6554186" y="1442537"/>
            <a:ext cx="5460001" cy="541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pt-BR" sz="1400" b="1" dirty="0"/>
              <a:t>Inspeções de Recebimento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/>
              <a:t>PPM</a:t>
            </a:r>
            <a:r>
              <a:rPr lang="pt-BR" sz="1400" dirty="0"/>
              <a:t> = </a:t>
            </a:r>
            <a:r>
              <a:rPr lang="pt-BR" sz="1400" b="1" i="1" dirty="0">
                <a:solidFill>
                  <a:srgbClr val="FF0000"/>
                </a:solidFill>
              </a:rPr>
              <a:t>1.337 (Peças)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rgbClr val="FF0000"/>
                </a:solidFill>
              </a:rPr>
              <a:t>18 </a:t>
            </a:r>
            <a:r>
              <a:rPr lang="pt-BR" sz="1400" dirty="0"/>
              <a:t>fornecedores</a:t>
            </a:r>
            <a:r>
              <a:rPr lang="pt-BR" sz="1400" b="1" i="1" dirty="0">
                <a:solidFill>
                  <a:srgbClr val="FF0000"/>
                </a:solidFill>
              </a:rPr>
              <a:t> </a:t>
            </a:r>
            <a:r>
              <a:rPr lang="pt-BR" sz="1400" dirty="0"/>
              <a:t>recebidos no total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rgbClr val="FF0000"/>
                </a:solidFill>
              </a:rPr>
              <a:t>79</a:t>
            </a:r>
            <a:r>
              <a:rPr lang="pt-BR" sz="1400" dirty="0"/>
              <a:t> Alertas da Qualidade gerados </a:t>
            </a:r>
            <a:r>
              <a:rPr lang="pt-BR" sz="1400" b="1" dirty="0">
                <a:solidFill>
                  <a:srgbClr val="FF0000"/>
                </a:solidFill>
              </a:rPr>
              <a:t>(Total)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9 </a:t>
            </a:r>
            <a:r>
              <a:rPr lang="pt-BR" sz="1400" b="1" i="1" dirty="0" err="1">
                <a:solidFill>
                  <a:schemeClr val="accent5">
                    <a:lumMod val="75000"/>
                  </a:schemeClr>
                </a:solidFill>
              </a:rPr>
              <a:t>RNCs</a:t>
            </a: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1400" dirty="0"/>
              <a:t> por não conformidades significativas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pt-BR" sz="1400" dirty="0"/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pt-BR" sz="1400" b="1" dirty="0"/>
              <a:t>Adequação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Estamos </a:t>
            </a: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em período de obras na local da adequação</a:t>
            </a:r>
            <a:r>
              <a:rPr lang="pt-BR" sz="1400" dirty="0"/>
              <a:t>, afetando nossa produtividade.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Alta demanda </a:t>
            </a:r>
            <a:r>
              <a:rPr lang="pt-BR" sz="1400" dirty="0"/>
              <a:t>gerada de devoluções comerciais – importante mapear o motivo de começarmos a receber tantas cargas completas em MD, gerando </a:t>
            </a: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alto volume devolvido para adequação.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pt-BR" sz="1400" dirty="0"/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pt-BR" sz="1400" b="1" dirty="0"/>
              <a:t>QLD - QLDE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QLDE</a:t>
            </a:r>
            <a:r>
              <a:rPr lang="pt-BR" sz="1400" dirty="0"/>
              <a:t> estoque com </a:t>
            </a: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15 </a:t>
            </a:r>
            <a:r>
              <a:rPr lang="pt-BR" sz="1400" b="1" i="1" dirty="0" err="1">
                <a:solidFill>
                  <a:schemeClr val="accent5">
                    <a:lumMod val="75000"/>
                  </a:schemeClr>
                </a:solidFill>
              </a:rPr>
              <a:t>sku’s</a:t>
            </a:r>
            <a:r>
              <a:rPr lang="pt-BR" sz="1400" dirty="0"/>
              <a:t>.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/>
              <a:t>CT 30826 </a:t>
            </a:r>
            <a:r>
              <a:rPr lang="pt-BR" sz="1400" dirty="0"/>
              <a:t>com retrabalho </a:t>
            </a:r>
            <a:r>
              <a:rPr lang="pt-BR" sz="1400" b="1" i="1" dirty="0"/>
              <a:t>em execução por mão de obra externa, </a:t>
            </a: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representando 10% do valor total</a:t>
            </a:r>
            <a:r>
              <a:rPr lang="pt-BR" sz="1400" dirty="0"/>
              <a:t> do QLD.</a:t>
            </a:r>
          </a:p>
          <a:p>
            <a:pPr marL="285750" indent="-2857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400" b="1" i="1" dirty="0"/>
              <a:t>NKA – Amortecedores </a:t>
            </a:r>
            <a:r>
              <a:rPr lang="pt-BR" sz="1400" dirty="0"/>
              <a:t>dos fornecedores </a:t>
            </a:r>
            <a:r>
              <a:rPr lang="pt-BR" sz="1400" b="1" i="1" dirty="0"/>
              <a:t>ADD/WENDA </a:t>
            </a:r>
            <a:r>
              <a:rPr lang="pt-BR" sz="1400" dirty="0"/>
              <a:t>em fila de retrabalho de etiquetas que </a:t>
            </a:r>
            <a:r>
              <a:rPr lang="pt-BR" sz="1400" b="1" i="1" dirty="0">
                <a:solidFill>
                  <a:schemeClr val="accent5">
                    <a:lumMod val="75000"/>
                  </a:schemeClr>
                </a:solidFill>
              </a:rPr>
              <a:t>representam 54% do valor total</a:t>
            </a:r>
            <a:r>
              <a:rPr lang="pt-BR" sz="1400" dirty="0"/>
              <a:t> do QLD.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pt-BR" sz="1400" dirty="0"/>
          </a:p>
          <a:p>
            <a:endParaRPr lang="pt-BR" sz="1400" dirty="0"/>
          </a:p>
        </p:txBody>
      </p:sp>
      <p:pic>
        <p:nvPicPr>
          <p:cNvPr id="27" name="Imagem 26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02E3DF0C-9478-79E9-1406-76A88713B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38" y="179696"/>
            <a:ext cx="2497592" cy="518368"/>
          </a:xfrm>
          <a:prstGeom prst="rect">
            <a:avLst/>
          </a:prstGeom>
        </p:spPr>
      </p:pic>
      <p:sp>
        <p:nvSpPr>
          <p:cNvPr id="7" name="CaixaDeTexto 51">
            <a:extLst>
              <a:ext uri="{FF2B5EF4-FFF2-40B4-BE49-F238E27FC236}">
                <a16:creationId xmlns:a16="http://schemas.microsoft.com/office/drawing/2014/main" id="{C3EEECBF-78AA-0CCC-35C6-CC678B1B2272}"/>
              </a:ext>
            </a:extLst>
          </p:cNvPr>
          <p:cNvSpPr txBox="1"/>
          <p:nvPr/>
        </p:nvSpPr>
        <p:spPr>
          <a:xfrm>
            <a:off x="7755313" y="873658"/>
            <a:ext cx="3273827" cy="301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marL="0" marR="0" lvl="0" indent="0" algn="l" defTabSz="914400" rtl="0" eaLnBrk="1" fontAlgn="auto" latinLnBrk="0" hangingPunc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b="1" i="1" kern="0" dirty="0">
                <a:solidFill>
                  <a:srgbClr val="FFFFFF"/>
                </a:solidFill>
                <a:latin typeface="Segoe UI Black" panose="020B0502040204020203" pitchFamily="34" charset="0"/>
                <a:cs typeface="Segoe UI Black" panose="020B0502040204020203" pitchFamily="34" charset="0"/>
                <a:sym typeface="Segoe UI Semilight"/>
              </a:rPr>
              <a:t>GARANTIA DA QUALIDADE</a:t>
            </a:r>
            <a:endParaRPr kumimoji="0" lang="pt-BR" sz="1600" b="1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Black" panose="020B0502040204020203" pitchFamily="34" charset="0"/>
              <a:cs typeface="Segoe UI Black" panose="020B0502040204020203" pitchFamily="34" charset="0"/>
              <a:sym typeface="Segoe UI Semilight"/>
            </a:endParaRPr>
          </a:p>
        </p:txBody>
      </p: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CB099E15-4C71-45EE-D690-3469DAD63ACE}"/>
              </a:ext>
            </a:extLst>
          </p:cNvPr>
          <p:cNvGrpSpPr/>
          <p:nvPr/>
        </p:nvGrpSpPr>
        <p:grpSpPr>
          <a:xfrm>
            <a:off x="7663084" y="813469"/>
            <a:ext cx="4544400" cy="535709"/>
            <a:chOff x="7611571" y="698064"/>
            <a:chExt cx="4544400" cy="535709"/>
          </a:xfrm>
        </p:grpSpPr>
        <p:sp>
          <p:nvSpPr>
            <p:cNvPr id="3" name="Paralelogramo 2">
              <a:extLst>
                <a:ext uri="{FF2B5EF4-FFF2-40B4-BE49-F238E27FC236}">
                  <a16:creationId xmlns:a16="http://schemas.microsoft.com/office/drawing/2014/main" id="{EE85DB2C-C54A-732A-3095-AF2D20255A2A}"/>
                </a:ext>
              </a:extLst>
            </p:cNvPr>
            <p:cNvSpPr/>
            <p:nvPr/>
          </p:nvSpPr>
          <p:spPr>
            <a:xfrm>
              <a:off x="10566622" y="698064"/>
              <a:ext cx="1589349" cy="535709"/>
            </a:xfrm>
            <a:prstGeom prst="parallelogram">
              <a:avLst>
                <a:gd name="adj" fmla="val 24860"/>
              </a:avLst>
            </a:prstGeom>
            <a:solidFill>
              <a:srgbClr val="54565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" name="Paralelogramo 10">
              <a:extLst>
                <a:ext uri="{FF2B5EF4-FFF2-40B4-BE49-F238E27FC236}">
                  <a16:creationId xmlns:a16="http://schemas.microsoft.com/office/drawing/2014/main" id="{7BCC1411-BE71-CB5B-CA47-A72832BCCC4F}"/>
                </a:ext>
              </a:extLst>
            </p:cNvPr>
            <p:cNvSpPr/>
            <p:nvPr/>
          </p:nvSpPr>
          <p:spPr>
            <a:xfrm>
              <a:off x="7611571" y="698064"/>
              <a:ext cx="3151482" cy="535709"/>
            </a:xfrm>
            <a:prstGeom prst="parallelogram">
              <a:avLst>
                <a:gd name="adj" fmla="val 24860"/>
              </a:avLst>
            </a:prstGeom>
            <a:solidFill>
              <a:srgbClr val="ED1C2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" name="CaixaDeTexto 51">
              <a:extLst>
                <a:ext uri="{FF2B5EF4-FFF2-40B4-BE49-F238E27FC236}">
                  <a16:creationId xmlns:a16="http://schemas.microsoft.com/office/drawing/2014/main" id="{0D1BBF5A-2308-712C-9402-994AA7D0972A}"/>
                </a:ext>
              </a:extLst>
            </p:cNvPr>
            <p:cNvSpPr txBox="1"/>
            <p:nvPr/>
          </p:nvSpPr>
          <p:spPr>
            <a:xfrm>
              <a:off x="7755313" y="886962"/>
              <a:ext cx="3273827" cy="3016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marL="0" marR="0" lvl="0" indent="0" algn="l" defTabSz="914400" rtl="0" eaLnBrk="1" fontAlgn="auto" latinLnBrk="0" hangingPunc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600" b="1" i="1" kern="0" dirty="0">
                  <a:solidFill>
                    <a:srgbClr val="FFFFFF"/>
                  </a:solidFill>
                  <a:latin typeface="Segoe UI Black" panose="020B0502040204020203" pitchFamily="34" charset="0"/>
                  <a:cs typeface="Segoe UI Black" panose="020B0502040204020203" pitchFamily="34" charset="0"/>
                  <a:sym typeface="Segoe UI Semilight"/>
                </a:rPr>
                <a:t>QUALIDADE DO PRODUTO</a:t>
              </a:r>
              <a:endParaRPr kumimoji="0" lang="pt-BR" sz="16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 panose="020B0502040204020203" pitchFamily="34" charset="0"/>
                <a:cs typeface="Segoe UI Black" panose="020B0502040204020203" pitchFamily="34" charset="0"/>
                <a:sym typeface="Segoe UI Semilight"/>
              </a:endParaRPr>
            </a:p>
          </p:txBody>
        </p:sp>
        <p:pic>
          <p:nvPicPr>
            <p:cNvPr id="16" name="Gráfico 15" descr="Mundo estrutura de tópicos">
              <a:extLst>
                <a:ext uri="{FF2B5EF4-FFF2-40B4-BE49-F238E27FC236}">
                  <a16:creationId xmlns:a16="http://schemas.microsoft.com/office/drawing/2014/main" id="{108D6ECD-979A-E00C-A10C-6258251574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33009" y="751714"/>
              <a:ext cx="790780" cy="428409"/>
            </a:xfrm>
            <a:prstGeom prst="rect">
              <a:avLst/>
            </a:prstGeom>
          </p:spPr>
        </p:pic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CFA03A8-5321-2F00-7736-C51BF4C0A496}"/>
              </a:ext>
            </a:extLst>
          </p:cNvPr>
          <p:cNvSpPr txBox="1"/>
          <p:nvPr/>
        </p:nvSpPr>
        <p:spPr>
          <a:xfrm>
            <a:off x="2675362" y="2669065"/>
            <a:ext cx="387882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1" i="1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Índice de Reprovados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B76A745-43DC-B93C-5A45-5D6DC078CE3F}"/>
              </a:ext>
            </a:extLst>
          </p:cNvPr>
          <p:cNvSpPr txBox="1"/>
          <p:nvPr/>
        </p:nvSpPr>
        <p:spPr>
          <a:xfrm>
            <a:off x="5254326" y="1608424"/>
            <a:ext cx="80782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1" i="1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0,7%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F935D7BE-1228-F71B-C074-1D51C8805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65" y="4074776"/>
            <a:ext cx="2023134" cy="2352993"/>
          </a:xfrm>
          <a:prstGeom prst="rect">
            <a:avLst/>
          </a:prstGeom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3296A00-F146-6318-6924-B30882E4F58A}"/>
              </a:ext>
            </a:extLst>
          </p:cNvPr>
          <p:cNvGrpSpPr/>
          <p:nvPr/>
        </p:nvGrpSpPr>
        <p:grpSpPr>
          <a:xfrm>
            <a:off x="2793626" y="3840123"/>
            <a:ext cx="3760560" cy="2710986"/>
            <a:chOff x="2587643" y="3718623"/>
            <a:chExt cx="3760560" cy="280991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C4E2615C-AA81-07D2-A94A-ED64FB067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75168" y="3718623"/>
              <a:ext cx="2419284" cy="2122034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233A4E0F-7F5C-4F93-BE89-BECBA4FD8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7643" y="5882472"/>
              <a:ext cx="3760560" cy="646061"/>
            </a:xfrm>
            <a:prstGeom prst="rect">
              <a:avLst/>
            </a:prstGeom>
          </p:spPr>
        </p:pic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D6AB96D7-C695-80F1-CE3F-136FCBB180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629" y="982800"/>
            <a:ext cx="2327998" cy="2781116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D1A6C51B-499A-9A4C-1FE8-DD5CA20EC0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3300" y="969896"/>
            <a:ext cx="3689644" cy="2870227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BDBC69A3-7AD1-9E64-594B-2668155B53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246" y="3916392"/>
            <a:ext cx="2207138" cy="224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3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ED750-E7F1-B002-267C-FD0C37A1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ol brilhando no céu">
            <a:extLst>
              <a:ext uri="{FF2B5EF4-FFF2-40B4-BE49-F238E27FC236}">
                <a16:creationId xmlns:a16="http://schemas.microsoft.com/office/drawing/2014/main" id="{ADFCF330-E13A-3074-7AB3-112B64D1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320" y="-699628"/>
            <a:ext cx="12386640" cy="8257256"/>
          </a:xfrm>
          <a:prstGeom prst="rect">
            <a:avLst/>
          </a:prstGeom>
        </p:spPr>
      </p:pic>
      <p:pic>
        <p:nvPicPr>
          <p:cNvPr id="133" name="AdobeStock_638561313.jpg" descr="AdobeStock_638561313.jpg">
            <a:extLst>
              <a:ext uri="{FF2B5EF4-FFF2-40B4-BE49-F238E27FC236}">
                <a16:creationId xmlns:a16="http://schemas.microsoft.com/office/drawing/2014/main" id="{89CAB22C-D3FC-DA52-BE56-4E06AB1F873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7320" y="-699628"/>
            <a:ext cx="12386640" cy="8257256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Retângulo 36">
            <a:extLst>
              <a:ext uri="{FF2B5EF4-FFF2-40B4-BE49-F238E27FC236}">
                <a16:creationId xmlns:a16="http://schemas.microsoft.com/office/drawing/2014/main" id="{0E166036-DC47-1BC2-89EA-043997B70D1D}"/>
              </a:ext>
            </a:extLst>
          </p:cNvPr>
          <p:cNvSpPr/>
          <p:nvPr/>
        </p:nvSpPr>
        <p:spPr>
          <a:xfrm>
            <a:off x="-97319" y="-699628"/>
            <a:ext cx="12386640" cy="8257256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50000">
                <a:srgbClr val="54565B">
                  <a:alpha val="50000"/>
                </a:srgbClr>
              </a:gs>
              <a:gs pos="100000">
                <a:srgbClr val="000000">
                  <a:alpha val="50000"/>
                </a:srgbClr>
              </a:gs>
            </a:gsLst>
          </a:gradFill>
          <a:ln w="12700">
            <a:miter lim="400000"/>
          </a:ln>
        </p:spPr>
        <p:txBody>
          <a:bodyPr lIns="22860" rIns="2286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sp>
        <p:nvSpPr>
          <p:cNvPr id="135" name="KEEP…">
            <a:extLst>
              <a:ext uri="{FF2B5EF4-FFF2-40B4-BE49-F238E27FC236}">
                <a16:creationId xmlns:a16="http://schemas.microsoft.com/office/drawing/2014/main" id="{21833D86-49C0-F233-5BF2-5FFBB17086B9}"/>
              </a:ext>
            </a:extLst>
          </p:cNvPr>
          <p:cNvSpPr txBox="1"/>
          <p:nvPr/>
        </p:nvSpPr>
        <p:spPr>
          <a:xfrm>
            <a:off x="2084262" y="4160490"/>
            <a:ext cx="802347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8100" tIns="38100" rIns="38100" bIns="38100" anchor="ctr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defTabSz="409575">
              <a:defRPr sz="6500" spc="2015">
                <a:solidFill>
                  <a:srgbClr val="D8D9DB"/>
                </a:solidFill>
                <a:latin typeface="Kanit Regular"/>
                <a:ea typeface="Kanit Regular"/>
                <a:cs typeface="Kanit Regular"/>
                <a:sym typeface="Kanit Regular"/>
              </a:defRPr>
            </a:pPr>
            <a:r>
              <a:rPr lang="pt-BR" sz="4800" dirty="0"/>
              <a:t>OBRIGADO</a:t>
            </a:r>
            <a:endParaRPr sz="4800" dirty="0"/>
          </a:p>
        </p:txBody>
      </p:sp>
      <p:sp>
        <p:nvSpPr>
          <p:cNvPr id="136" name="Forma">
            <a:extLst>
              <a:ext uri="{FF2B5EF4-FFF2-40B4-BE49-F238E27FC236}">
                <a16:creationId xmlns:a16="http://schemas.microsoft.com/office/drawing/2014/main" id="{DCF5E314-148A-65CF-C181-5249A9DC5797}"/>
              </a:ext>
            </a:extLst>
          </p:cNvPr>
          <p:cNvSpPr/>
          <p:nvPr/>
        </p:nvSpPr>
        <p:spPr>
          <a:xfrm>
            <a:off x="6173375" y="7202224"/>
            <a:ext cx="6115945" cy="355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" y="0"/>
                </a:moveTo>
                <a:lnTo>
                  <a:pt x="0" y="2100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980" y="0"/>
                </a:lnTo>
                <a:close/>
              </a:path>
            </a:pathLst>
          </a:custGeom>
          <a:solidFill>
            <a:srgbClr val="ED1C23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  <a:lvl6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6pPr>
            <a:lvl7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7pPr>
            <a:lvl8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8pPr>
            <a:lvl9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defRPr>
            </a:lvl9pPr>
          </a:lstStyle>
          <a:p>
            <a:pPr defTabSz="438150">
              <a:defRPr sz="6000">
                <a:solidFill>
                  <a:srgbClr val="D6D9DA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000"/>
          </a:p>
        </p:txBody>
      </p:sp>
      <p:pic>
        <p:nvPicPr>
          <p:cNvPr id="137" name="Marca_FrasleMobility_FundoGrafite.png" descr="Marca_FrasleMobility_FundoGrafite.png">
            <a:extLst>
              <a:ext uri="{FF2B5EF4-FFF2-40B4-BE49-F238E27FC236}">
                <a16:creationId xmlns:a16="http://schemas.microsoft.com/office/drawing/2014/main" id="{1DACA451-59D4-AECA-1DFB-18B95DB48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3" y="2268289"/>
            <a:ext cx="6095995" cy="106645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0" name="Agrupar">
            <a:extLst>
              <a:ext uri="{FF2B5EF4-FFF2-40B4-BE49-F238E27FC236}">
                <a16:creationId xmlns:a16="http://schemas.microsoft.com/office/drawing/2014/main" id="{5F283C89-678B-A738-A8B2-6060093E4C39}"/>
              </a:ext>
            </a:extLst>
          </p:cNvPr>
          <p:cNvGrpSpPr/>
          <p:nvPr/>
        </p:nvGrpSpPr>
        <p:grpSpPr>
          <a:xfrm>
            <a:off x="2402899" y="4108537"/>
            <a:ext cx="6741099" cy="1223331"/>
            <a:chOff x="0" y="0"/>
            <a:chExt cx="13482197" cy="1151592"/>
          </a:xfrm>
        </p:grpSpPr>
        <p:sp>
          <p:nvSpPr>
            <p:cNvPr id="138" name="Conector reto 24">
              <a:extLst>
                <a:ext uri="{FF2B5EF4-FFF2-40B4-BE49-F238E27FC236}">
                  <a16:creationId xmlns:a16="http://schemas.microsoft.com/office/drawing/2014/main" id="{32AD451B-5778-3D2B-C1EC-D54BE88F2383}"/>
                </a:ext>
              </a:extLst>
            </p:cNvPr>
            <p:cNvSpPr/>
            <p:nvPr/>
          </p:nvSpPr>
          <p:spPr>
            <a:xfrm flipH="1">
              <a:off x="0" y="0"/>
              <a:ext cx="276825" cy="1129003"/>
            </a:xfrm>
            <a:prstGeom prst="line">
              <a:avLst/>
            </a:prstGeom>
            <a:noFill/>
            <a:ln w="25400" cap="flat">
              <a:solidFill>
                <a:srgbClr val="ED1C24"/>
              </a:solidFill>
              <a:prstDash val="solid"/>
              <a:miter lim="8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algn="l" defTabSz="4572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  <p:sp>
          <p:nvSpPr>
            <p:cNvPr id="139" name="Conector reto 28">
              <a:extLst>
                <a:ext uri="{FF2B5EF4-FFF2-40B4-BE49-F238E27FC236}">
                  <a16:creationId xmlns:a16="http://schemas.microsoft.com/office/drawing/2014/main" id="{7F17B6BF-3004-FCEF-2031-C7A2A477DAD4}"/>
                </a:ext>
              </a:extLst>
            </p:cNvPr>
            <p:cNvSpPr/>
            <p:nvPr/>
          </p:nvSpPr>
          <p:spPr>
            <a:xfrm flipH="1">
              <a:off x="13205372" y="22590"/>
              <a:ext cx="276826" cy="1129003"/>
            </a:xfrm>
            <a:prstGeom prst="line">
              <a:avLst/>
            </a:prstGeom>
            <a:noFill/>
            <a:ln w="25400" cap="flat">
              <a:solidFill>
                <a:srgbClr val="ED1C24"/>
              </a:solidFill>
              <a:prstDash val="solid"/>
              <a:miter lim="8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>
              <a:defPPr marL="0" marR="0" indent="0" algn="l" defTabSz="457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  <a:lvl2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2pPr>
              <a:lvl3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3pPr>
              <a:lvl4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4pPr>
              <a:lvl5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5pPr>
              <a:lvl6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6pPr>
              <a:lvl7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7pPr>
              <a:lvl8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8pPr>
              <a:lvl9pPr marL="0" marR="0" indent="0" algn="ctr" defTabSz="41275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5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9pPr>
            </a:lstStyle>
            <a:p>
              <a:pPr algn="l" defTabSz="4572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 sz="900"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C76AA1-F4FC-6B14-6DBA-EF6C04B02F26}"/>
              </a:ext>
            </a:extLst>
          </p:cNvPr>
          <p:cNvSpPr txBox="1"/>
          <p:nvPr/>
        </p:nvSpPr>
        <p:spPr>
          <a:xfrm>
            <a:off x="9774721" y="-699628"/>
            <a:ext cx="25146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ISO9001:2015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ISO14001:2015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ISO45001:2018</a:t>
            </a:r>
          </a:p>
          <a:p>
            <a:pPr algn="r"/>
            <a:endParaRPr lang="en-US" sz="11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38031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5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s - PRODUTO - Frasle Mobility-03" id="{68D724E3-5074-45D9-8771-2CA0C1422450}" vid="{2D8A005D-DAA6-413A-B8CF-53A6D6C0C5D9}"/>
    </a:ext>
  </a:extLst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s - PRODUTO - Frasle Mobility-03" id="{68D724E3-5074-45D9-8771-2CA0C1422450}" vid="{1F2CEC5A-2E81-453C-A805-7E9D6C3482A6}"/>
    </a:ext>
  </a:extLst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90bcba4-be38-4bba-9c67-545baaabf1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FAF15AB48962743901EDDB0A6ED347E" ma:contentTypeVersion="14" ma:contentTypeDescription="Crie um novo documento." ma:contentTypeScope="" ma:versionID="517816a826ddf2338c69e25232c8af6e">
  <xsd:schema xmlns:xsd="http://www.w3.org/2001/XMLSchema" xmlns:xs="http://www.w3.org/2001/XMLSchema" xmlns:p="http://schemas.microsoft.com/office/2006/metadata/properties" xmlns:ns3="690bcba4-be38-4bba-9c67-545baaabf115" xmlns:ns4="f1f02d28-cb85-4c35-9f39-57db56affb0c" targetNamespace="http://schemas.microsoft.com/office/2006/metadata/properties" ma:root="true" ma:fieldsID="359dc4fd158619739d6a354969149afd" ns3:_="" ns4:_="">
    <xsd:import namespace="690bcba4-be38-4bba-9c67-545baaabf115"/>
    <xsd:import namespace="f1f02d28-cb85-4c35-9f39-57db56affb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bcba4-be38-4bba-9c67-545baaabf11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f02d28-cb85-4c35-9f39-57db56affb0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92B565-5CC3-4EC8-9BC6-DF7FD8E825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8EBE0D-A580-4E5F-B58A-21D94F938889}">
  <ds:schemaRefs>
    <ds:schemaRef ds:uri="http://schemas.microsoft.com/office/infopath/2007/PartnerControls"/>
    <ds:schemaRef ds:uri="http://purl.org/dc/elements/1.1/"/>
    <ds:schemaRef ds:uri="f1f02d28-cb85-4c35-9f39-57db56affb0c"/>
    <ds:schemaRef ds:uri="http://purl.org/dc/dcmitype/"/>
    <ds:schemaRef ds:uri="690bcba4-be38-4bba-9c67-545baaabf115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83B24B6-7219-432B-8E0B-C888E02993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0bcba4-be38-4bba-9c67-545baaabf115"/>
    <ds:schemaRef ds:uri="f1f02d28-cb85-4c35-9f39-57db56affb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30558</TotalTime>
  <Words>160</Words>
  <Application>Microsoft Office PowerPoint</Application>
  <PresentationFormat>Widescreen</PresentationFormat>
  <Paragraphs>32</Paragraphs>
  <Slides>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Century Gothic</vt:lpstr>
      <vt:lpstr>Helvetica Neue</vt:lpstr>
      <vt:lpstr>Helvetica Neue Light</vt:lpstr>
      <vt:lpstr>Helvetica Neue Medium</vt:lpstr>
      <vt:lpstr>Segoe UI</vt:lpstr>
      <vt:lpstr>Segoe UI Black</vt:lpstr>
      <vt:lpstr>5_Tema do Office</vt:lpstr>
      <vt:lpstr>1_Personalizar design</vt:lpstr>
      <vt:lpstr>Personalizar design</vt:lpstr>
      <vt:lpstr>White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Gabriela Caroline Mattana</dc:creator>
  <cp:lastModifiedBy>Pedro Henrique Castro Soares</cp:lastModifiedBy>
  <cp:revision>484</cp:revision>
  <cp:lastPrinted>2023-10-26T19:31:59Z</cp:lastPrinted>
  <dcterms:created xsi:type="dcterms:W3CDTF">2023-10-26T13:31:15Z</dcterms:created>
  <dcterms:modified xsi:type="dcterms:W3CDTF">2026-10-20T16:58:30Z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0x010100EFAF15AB48962743901EDDB0A6ED347E</vt:lpwstr>
  </property>
</Properties>
</file>